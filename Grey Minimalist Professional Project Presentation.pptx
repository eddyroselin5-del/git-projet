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Alexandria Bold" panose="020B0604020202020204" charset="-78"/>
      <p:regular r:id="rId11"/>
    </p:embeddedFont>
    <p:embeddedFont>
      <p:font typeface="Garet" panose="020B0604020202020204" charset="0"/>
      <p:regular r:id="rId12"/>
    </p:embeddedFont>
    <p:embeddedFont>
      <p:font typeface="Garet Bold" panose="020B0604020202020204" charset="0"/>
      <p:regular r:id="rId13"/>
    </p:embeddedFont>
    <p:embeddedFont>
      <p:font typeface="Open Sans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MG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MG"/>
          </a:p>
        </p:txBody>
      </p:sp>
      <p:sp>
        <p:nvSpPr>
          <p:cNvPr id="4" name="Freeform 4"/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MG"/>
          </a:p>
        </p:txBody>
      </p:sp>
      <p:sp>
        <p:nvSpPr>
          <p:cNvPr id="5" name="Freeform 5"/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MG"/>
          </a:p>
        </p:txBody>
      </p:sp>
      <p:sp>
        <p:nvSpPr>
          <p:cNvPr id="6" name="Freeform 6"/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MG"/>
          </a:p>
        </p:txBody>
      </p:sp>
      <p:sp>
        <p:nvSpPr>
          <p:cNvPr id="7" name="Freeform 7"/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MG"/>
          </a:p>
        </p:txBody>
      </p:sp>
      <p:sp>
        <p:nvSpPr>
          <p:cNvPr id="8" name="TextBox 8"/>
          <p:cNvSpPr txBox="1"/>
          <p:nvPr/>
        </p:nvSpPr>
        <p:spPr>
          <a:xfrm>
            <a:off x="2712100" y="885825"/>
            <a:ext cx="12230841" cy="1266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6"/>
              </a:lnSpc>
            </a:pPr>
            <a:r>
              <a:rPr lang="en-US" sz="7404" b="1">
                <a:solidFill>
                  <a:srgbClr val="545454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LASER FIREWALL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712100" y="3248749"/>
            <a:ext cx="12736475" cy="5180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55"/>
              </a:lnSpc>
            </a:pPr>
            <a:r>
              <a:rPr lang="en-US" sz="4182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présenter par:</a:t>
            </a:r>
          </a:p>
          <a:p>
            <a:pPr algn="l">
              <a:lnSpc>
                <a:spcPts val="5855"/>
              </a:lnSpc>
            </a:pPr>
            <a:r>
              <a:rPr lang="en-US" sz="4182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RAMANATSOA Aina Sarobidy Noemi</a:t>
            </a:r>
          </a:p>
          <a:p>
            <a:pPr algn="l">
              <a:lnSpc>
                <a:spcPts val="5855"/>
              </a:lnSpc>
            </a:pPr>
            <a:r>
              <a:rPr lang="en-US" sz="4182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RANARISON Lova</a:t>
            </a:r>
          </a:p>
          <a:p>
            <a:pPr algn="l">
              <a:lnSpc>
                <a:spcPts val="5855"/>
              </a:lnSpc>
            </a:pPr>
            <a:r>
              <a:rPr lang="en-US" sz="4182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RAKOTONARIVO Fitahiana Sitrakiniavo</a:t>
            </a:r>
          </a:p>
          <a:p>
            <a:pPr algn="l">
              <a:lnSpc>
                <a:spcPts val="5855"/>
              </a:lnSpc>
            </a:pPr>
            <a:r>
              <a:rPr lang="en-US" sz="4182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LAHINIRIKO Fenoarison Roselin Eddy</a:t>
            </a:r>
          </a:p>
          <a:p>
            <a:pPr algn="l">
              <a:lnSpc>
                <a:spcPts val="5855"/>
              </a:lnSpc>
            </a:pPr>
            <a:r>
              <a:rPr lang="en-US" sz="4182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ANDRIANJATIANA Mandresy Raphael</a:t>
            </a:r>
          </a:p>
          <a:p>
            <a:pPr algn="l">
              <a:lnSpc>
                <a:spcPts val="5855"/>
              </a:lnSpc>
            </a:pPr>
            <a:endParaRPr lang="en-US" sz="4182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MG"/>
          </a:p>
        </p:txBody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MG"/>
          </a:p>
        </p:txBody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MG"/>
          </a:p>
        </p:txBody>
      </p:sp>
      <p:sp>
        <p:nvSpPr>
          <p:cNvPr id="5" name="TextBox 5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93127" y="895350"/>
            <a:ext cx="2387084" cy="1259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59"/>
              </a:lnSpc>
              <a:spcBef>
                <a:spcPct val="0"/>
              </a:spcBef>
            </a:pPr>
            <a:r>
              <a:rPr lang="en-US" sz="7399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plan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21514" y="2771979"/>
            <a:ext cx="7806214" cy="3786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28556" lvl="1" indent="-464278" algn="l">
              <a:lnSpc>
                <a:spcPts val="6021"/>
              </a:lnSpc>
              <a:buFont typeface="Arial"/>
              <a:buChar char="•"/>
            </a:pPr>
            <a:r>
              <a:rPr lang="en-US" sz="4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</a:t>
            </a:r>
          </a:p>
          <a:p>
            <a:pPr marL="928556" lvl="1" indent="-464278" algn="l">
              <a:lnSpc>
                <a:spcPts val="6021"/>
              </a:lnSpc>
              <a:buFont typeface="Arial"/>
              <a:buChar char="•"/>
            </a:pPr>
            <a:r>
              <a:rPr lang="en-US" sz="4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MATERIELS ET METHODES</a:t>
            </a:r>
          </a:p>
          <a:p>
            <a:pPr marL="928369" lvl="1" indent="-464185" algn="l">
              <a:lnSpc>
                <a:spcPts val="6019"/>
              </a:lnSpc>
              <a:buFont typeface="Arial"/>
              <a:buChar char="•"/>
            </a:pPr>
            <a:r>
              <a:rPr lang="en-US" sz="4299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DISCUSSIONS</a:t>
            </a:r>
          </a:p>
          <a:p>
            <a:pPr marL="928369" lvl="1" indent="-464185" algn="l">
              <a:lnSpc>
                <a:spcPts val="6019"/>
              </a:lnSpc>
              <a:buFont typeface="Arial"/>
              <a:buChar char="•"/>
            </a:pPr>
            <a:r>
              <a:rPr lang="en-US" sz="4299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DEMONSTRATION</a:t>
            </a:r>
          </a:p>
          <a:p>
            <a:pPr marL="928556" lvl="1" indent="-464278" algn="l">
              <a:lnSpc>
                <a:spcPts val="6021"/>
              </a:lnSpc>
              <a:buFont typeface="Arial"/>
              <a:buChar char="•"/>
            </a:pPr>
            <a:r>
              <a:rPr lang="en-US" sz="4300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MG"/>
          </a:p>
        </p:txBody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MG"/>
          </a:p>
        </p:txBody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MG"/>
          </a:p>
        </p:txBody>
      </p:sp>
      <p:sp>
        <p:nvSpPr>
          <p:cNvPr id="5" name="TextBox 5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0" y="1502607"/>
            <a:ext cx="18288000" cy="1160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  <a:spcBef>
                <a:spcPct val="0"/>
              </a:spcBef>
            </a:pPr>
            <a:r>
              <a:rPr lang="en-US" sz="6799" b="1">
                <a:solidFill>
                  <a:srgbClr val="545454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4650" y="3432076"/>
            <a:ext cx="17192673" cy="445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La sécurité réseau est devenu essentielle dans les réseaux moderne 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Les réseaux informatiques sont exposés à des menaces constantes : intrusions, attaques par déni de service, vols de données.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Le pare-feu est une barrière essentielle qui filtre le trafic, bloque les connexions suspectes et protège les ressources internes.</a:t>
            </a:r>
          </a:p>
          <a:p>
            <a:pPr algn="l">
              <a:lnSpc>
                <a:spcPts val="5040"/>
              </a:lnSpc>
            </a:pPr>
            <a:endParaRPr lang="en-US" sz="3600" b="1">
              <a:solidFill>
                <a:srgbClr val="545454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5040"/>
              </a:lnSpc>
              <a:spcBef>
                <a:spcPct val="0"/>
              </a:spcBef>
            </a:pPr>
            <a:endParaRPr lang="en-US" sz="3600" b="1">
              <a:solidFill>
                <a:srgbClr val="545454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MG"/>
          </a:p>
        </p:txBody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MG"/>
          </a:p>
        </p:txBody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MG"/>
          </a:p>
        </p:txBody>
      </p:sp>
      <p:sp>
        <p:nvSpPr>
          <p:cNvPr id="5" name="TextBox 5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055822" y="622396"/>
            <a:ext cx="4176355" cy="1160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519"/>
              </a:lnSpc>
              <a:spcBef>
                <a:spcPct val="0"/>
              </a:spcBef>
            </a:pPr>
            <a:r>
              <a:rPr lang="en-US" sz="6799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Matériel 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723290"/>
            <a:ext cx="17259300" cy="509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Langage utilisé : Python</a:t>
            </a:r>
          </a:p>
          <a:p>
            <a:pPr algn="l">
              <a:lnSpc>
                <a:spcPts val="5040"/>
              </a:lnSpc>
            </a:pPr>
            <a:r>
              <a:rPr lang="en-US" sz="3600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interface : tkinter</a:t>
            </a:r>
          </a:p>
          <a:p>
            <a:pPr algn="l">
              <a:lnSpc>
                <a:spcPts val="5040"/>
              </a:lnSpc>
            </a:pPr>
            <a:r>
              <a:rPr lang="en-US" sz="3600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moteur du système : psutil ;subprocess ; ctypes</a:t>
            </a:r>
          </a:p>
          <a:p>
            <a:pPr algn="l">
              <a:lnSpc>
                <a:spcPts val="5040"/>
              </a:lnSpc>
            </a:pPr>
            <a:r>
              <a:rPr lang="en-US" sz="3600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réseau et intelligence : requests </a:t>
            </a:r>
          </a:p>
          <a:p>
            <a:pPr algn="l">
              <a:lnSpc>
                <a:spcPts val="5040"/>
              </a:lnSpc>
            </a:pPr>
            <a:r>
              <a:rPr lang="en-US" sz="3600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gestion du temps et de la fluidité : threading ; time ; date time</a:t>
            </a:r>
          </a:p>
          <a:p>
            <a:pPr algn="l">
              <a:lnSpc>
                <a:spcPts val="5040"/>
              </a:lnSpc>
            </a:pPr>
            <a:r>
              <a:rPr lang="en-US" sz="3600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utilité au système : sys ; os </a:t>
            </a:r>
          </a:p>
          <a:p>
            <a:pPr algn="l">
              <a:lnSpc>
                <a:spcPts val="5040"/>
              </a:lnSpc>
            </a:pPr>
            <a:endParaRPr lang="en-US" sz="3600" b="1">
              <a:solidFill>
                <a:srgbClr val="545454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just">
              <a:lnSpc>
                <a:spcPts val="5040"/>
              </a:lnSpc>
              <a:spcBef>
                <a:spcPct val="0"/>
              </a:spcBef>
            </a:pPr>
            <a:endParaRPr lang="en-US" sz="3600" b="1">
              <a:solidFill>
                <a:srgbClr val="545454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MG"/>
          </a:p>
        </p:txBody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MG"/>
          </a:p>
        </p:txBody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MG"/>
          </a:p>
        </p:txBody>
      </p:sp>
      <p:sp>
        <p:nvSpPr>
          <p:cNvPr id="5" name="Freeform 5"/>
          <p:cNvSpPr/>
          <p:nvPr/>
        </p:nvSpPr>
        <p:spPr>
          <a:xfrm>
            <a:off x="5582183" y="4304928"/>
            <a:ext cx="7430058" cy="4953372"/>
          </a:xfrm>
          <a:custGeom>
            <a:avLst/>
            <a:gdLst/>
            <a:ahLst/>
            <a:cxnLst/>
            <a:rect l="l" t="t" r="r" b="b"/>
            <a:pathLst>
              <a:path w="7430058" h="4953372">
                <a:moveTo>
                  <a:pt x="0" y="0"/>
                </a:moveTo>
                <a:lnTo>
                  <a:pt x="7430058" y="0"/>
                </a:lnTo>
                <a:lnTo>
                  <a:pt x="7430058" y="4953372"/>
                </a:lnTo>
                <a:lnTo>
                  <a:pt x="0" y="49533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fr-MG"/>
          </a:p>
        </p:txBody>
      </p:sp>
      <p:sp>
        <p:nvSpPr>
          <p:cNvPr id="6" name="TextBox 6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31682" y="784902"/>
            <a:ext cx="4074438" cy="1160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  <a:spcBef>
                <a:spcPct val="0"/>
              </a:spcBef>
            </a:pPr>
            <a:r>
              <a:rPr lang="en-US" sz="6799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Méthode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53601" y="2795032"/>
            <a:ext cx="17434399" cy="1261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Fonctionnement : filtrage de paquets, inspection des connexions, règles de sécurité.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MG"/>
          </a:p>
        </p:txBody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MG"/>
          </a:p>
        </p:txBody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MG"/>
          </a:p>
        </p:txBody>
      </p:sp>
      <p:sp>
        <p:nvSpPr>
          <p:cNvPr id="5" name="TextBox 5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64900" y="568971"/>
            <a:ext cx="6558201" cy="1160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  <a:spcBef>
                <a:spcPct val="0"/>
              </a:spcBef>
            </a:pPr>
            <a:r>
              <a:rPr lang="en-US" sz="6799" b="1">
                <a:solidFill>
                  <a:srgbClr val="54545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Démonstration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MG"/>
          </a:p>
        </p:txBody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MG"/>
          </a:p>
        </p:txBody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MG"/>
          </a:p>
        </p:txBody>
      </p:sp>
      <p:sp>
        <p:nvSpPr>
          <p:cNvPr id="5" name="TextBox 5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791200" y="624020"/>
            <a:ext cx="6934200" cy="11753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  <a:spcBef>
                <a:spcPct val="0"/>
              </a:spcBef>
            </a:pPr>
            <a:r>
              <a:rPr lang="en-US" sz="6799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discussion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6058" y="2541597"/>
            <a:ext cx="17521942" cy="5728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 dirty="0" err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Efficacité</a:t>
            </a:r>
            <a:r>
              <a:rPr lang="en-US" sz="3600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 :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Il </a:t>
            </a:r>
            <a:r>
              <a:rPr lang="en-US" sz="3600" b="1" dirty="0" err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filtre</a:t>
            </a:r>
            <a:r>
              <a:rPr lang="en-US" sz="3600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3600" b="1" dirty="0" err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correctement</a:t>
            </a:r>
            <a:r>
              <a:rPr lang="en-US" sz="3600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 le </a:t>
            </a:r>
            <a:r>
              <a:rPr lang="en-US" sz="3600" b="1" dirty="0" err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trafic</a:t>
            </a:r>
            <a:r>
              <a:rPr lang="en-US" sz="3600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 entrant et </a:t>
            </a:r>
            <a:r>
              <a:rPr lang="en-US" sz="3600" b="1" dirty="0" err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sortant</a:t>
            </a:r>
            <a:r>
              <a:rPr lang="en-US" sz="3600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3600" b="1" dirty="0" err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selon</a:t>
            </a:r>
            <a:r>
              <a:rPr lang="en-US" sz="3600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 les </a:t>
            </a:r>
            <a:r>
              <a:rPr lang="en-US" sz="3600" b="1" dirty="0" err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règles</a:t>
            </a:r>
            <a:r>
              <a:rPr lang="en-US" sz="3600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3600" b="1" dirty="0" err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définies</a:t>
            </a:r>
            <a:r>
              <a:rPr lang="en-US" sz="3600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.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Il </a:t>
            </a:r>
            <a:r>
              <a:rPr lang="en-US" sz="3600" b="1" dirty="0" err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bloque</a:t>
            </a:r>
            <a:r>
              <a:rPr lang="en-US" sz="3600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 les </a:t>
            </a:r>
            <a:r>
              <a:rPr lang="en-US" sz="3600" b="1" dirty="0" err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connexions</a:t>
            </a:r>
            <a:r>
              <a:rPr lang="en-US" sz="3600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 non </a:t>
            </a:r>
            <a:r>
              <a:rPr lang="en-US" sz="3600" b="1" dirty="0" err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autorisées</a:t>
            </a:r>
            <a:r>
              <a:rPr lang="en-US" sz="3600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 et </a:t>
            </a:r>
            <a:r>
              <a:rPr lang="en-US" sz="3600" b="1" dirty="0" err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autorise</a:t>
            </a:r>
            <a:r>
              <a:rPr lang="en-US" sz="3600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 le </a:t>
            </a:r>
            <a:r>
              <a:rPr lang="en-US" sz="3600" b="1" dirty="0" err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trafic</a:t>
            </a:r>
            <a:r>
              <a:rPr lang="en-US" sz="3600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3600" b="1" dirty="0" err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légitime</a:t>
            </a:r>
            <a:r>
              <a:rPr lang="en-US" sz="3600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.</a:t>
            </a:r>
          </a:p>
          <a:p>
            <a:pPr algn="l">
              <a:lnSpc>
                <a:spcPts val="5040"/>
              </a:lnSpc>
            </a:pPr>
            <a:r>
              <a:rPr lang="en-US" sz="3600" b="1" dirty="0" err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Limites</a:t>
            </a:r>
            <a:r>
              <a:rPr lang="en-US" sz="3600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 :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Il ne </a:t>
            </a:r>
            <a:r>
              <a:rPr lang="en-US" sz="3600" b="1" dirty="0" err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protège</a:t>
            </a:r>
            <a:r>
              <a:rPr lang="en-US" sz="3600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 pas </a:t>
            </a:r>
            <a:r>
              <a:rPr lang="en-US" sz="3600" b="1" dirty="0" err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contre</a:t>
            </a:r>
            <a:r>
              <a:rPr lang="en-US" sz="3600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 les </a:t>
            </a:r>
            <a:r>
              <a:rPr lang="en-US" sz="3600" b="1" dirty="0" err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attaques</a:t>
            </a:r>
            <a:r>
              <a:rPr lang="en-US" sz="3600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 internes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Il ne </a:t>
            </a:r>
            <a:r>
              <a:rPr lang="en-US" sz="3600" b="1" dirty="0" err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bloque</a:t>
            </a:r>
            <a:r>
              <a:rPr lang="en-US" sz="3600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 pas les </a:t>
            </a:r>
            <a:r>
              <a:rPr lang="en-US" sz="3600" b="1" dirty="0" err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attaques</a:t>
            </a:r>
            <a:r>
              <a:rPr lang="en-US" sz="3600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 de type phishing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Il ne </a:t>
            </a:r>
            <a:r>
              <a:rPr lang="en-US" sz="3600" b="1" dirty="0" err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détecte</a:t>
            </a:r>
            <a:r>
              <a:rPr lang="en-US" sz="3600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 pas les menaces </a:t>
            </a:r>
            <a:r>
              <a:rPr lang="en-US" sz="3600" b="1" dirty="0" err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avancées</a:t>
            </a:r>
            <a:r>
              <a:rPr lang="en-US" sz="3600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endParaRPr lang="en-US" sz="3600" b="1" dirty="0">
              <a:solidFill>
                <a:srgbClr val="545454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MG"/>
          </a:p>
        </p:txBody>
      </p:sp>
      <p:sp>
        <p:nvSpPr>
          <p:cNvPr id="3" name="TextBox 3"/>
          <p:cNvSpPr txBox="1"/>
          <p:nvPr/>
        </p:nvSpPr>
        <p:spPr>
          <a:xfrm>
            <a:off x="4769920" y="863511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CONCLUSION</a:t>
            </a:r>
          </a:p>
        </p:txBody>
      </p:sp>
      <p:sp>
        <p:nvSpPr>
          <p:cNvPr id="4" name="Freeform 4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MG"/>
          </a:p>
        </p:txBody>
      </p:sp>
      <p:sp>
        <p:nvSpPr>
          <p:cNvPr id="5" name="AutoShape 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MG"/>
          </a:p>
        </p:txBody>
      </p:sp>
      <p:sp>
        <p:nvSpPr>
          <p:cNvPr id="6" name="TextBox 6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-131324" y="3593618"/>
            <a:ext cx="16230600" cy="445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 Le pare-feu est une première ligne de défense contre les menaces extérieures.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Il montre qu’un système simple peut filtrer, analyser et journaliser le trafic.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Il a des limites (attaques internes, phishing), mais reste une base solide et pédagogique.</a:t>
            </a:r>
          </a:p>
          <a:p>
            <a:pPr algn="ctr">
              <a:lnSpc>
                <a:spcPts val="5040"/>
              </a:lnSpc>
              <a:spcBef>
                <a:spcPct val="0"/>
              </a:spcBef>
            </a:pPr>
            <a:endParaRPr lang="en-US" sz="3600" b="1">
              <a:solidFill>
                <a:srgbClr val="545454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MG"/>
          </a:p>
        </p:txBody>
      </p:sp>
      <p:sp>
        <p:nvSpPr>
          <p:cNvPr id="3" name="TextBox 3"/>
          <p:cNvSpPr txBox="1"/>
          <p:nvPr/>
        </p:nvSpPr>
        <p:spPr>
          <a:xfrm>
            <a:off x="2668325" y="4041844"/>
            <a:ext cx="12951349" cy="1974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sz="11505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MG"/>
          </a:p>
        </p:txBody>
      </p:sp>
      <p:sp>
        <p:nvSpPr>
          <p:cNvPr id="5" name="AutoShape 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MG"/>
          </a:p>
        </p:txBody>
      </p:sp>
      <p:sp>
        <p:nvSpPr>
          <p:cNvPr id="6" name="TextBox 6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253</Words>
  <Application>Microsoft Office PowerPoint</Application>
  <PresentationFormat>Personnalisé</PresentationFormat>
  <Paragraphs>48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6" baseType="lpstr">
      <vt:lpstr>Garet Bold</vt:lpstr>
      <vt:lpstr>Calibri</vt:lpstr>
      <vt:lpstr>Alexandria Bold</vt:lpstr>
      <vt:lpstr>Arial</vt:lpstr>
      <vt:lpstr>Garet</vt:lpstr>
      <vt:lpstr>Open Sans 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Grey Minimalist Professional Project Presentation</dc:title>
  <cp:lastModifiedBy>Laetitia Mino</cp:lastModifiedBy>
  <cp:revision>2</cp:revision>
  <dcterms:created xsi:type="dcterms:W3CDTF">2006-08-16T00:00:00Z</dcterms:created>
  <dcterms:modified xsi:type="dcterms:W3CDTF">2025-11-18T17:21:50Z</dcterms:modified>
  <dc:identifier>DAG48Fcmg_I</dc:identifier>
</cp:coreProperties>
</file>